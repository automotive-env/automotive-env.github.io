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ative fram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05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label: Automotive-ENV"/>
          <p:cNvSpPr txBox="1"/>
          <p:nvPr/>
        </p:nvSpPr>
        <p:spPr>
          <a:xfrm>
            <a:off x="411480" y="236143"/>
            <a:ext cx="3397835" cy="651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3420" b="0" spc="-90">
                <a:solidFill>
                  <a:srgbClr val="F0F2F0"/>
                </a:solidFill>
                <a:latin typeface="Manrope Figure 600"/>
              </a:rPr>
              <a:t>Automotive-ENV</a:t>
            </a:r>
          </a:p>
        </p:txBody>
      </p:sp>
      <p:sp>
        <p:nvSpPr>
          <p:cNvPr id="4" name="Editable label: SIMULATED COCKPIT BENCHMARK"/>
          <p:cNvSpPr txBox="1"/>
          <p:nvPr/>
        </p:nvSpPr>
        <p:spPr>
          <a:xfrm>
            <a:off x="434340" y="822159"/>
            <a:ext cx="2628900" cy="197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035" b="0" spc="135">
                <a:solidFill>
                  <a:srgbClr val="A6B4BB"/>
                </a:solidFill>
                <a:latin typeface="SpaceGrotesk Figure 450"/>
              </a:rPr>
              <a:t>SIMULATED COCKPIT BENCHMARK</a:t>
            </a:r>
          </a:p>
        </p:txBody>
      </p:sp>
      <p:sp>
        <p:nvSpPr>
          <p:cNvPr id="5" name="Editable label: 420 TASKS"/>
          <p:cNvSpPr txBox="1"/>
          <p:nvPr/>
        </p:nvSpPr>
        <p:spPr>
          <a:xfrm>
            <a:off x="12020163" y="850734"/>
            <a:ext cx="872876" cy="197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marL="0" marR="0" indent="0">
              <a:spcBef>
                <a:spcPts val="0"/>
              </a:spcBef>
              <a:spcAft>
                <a:spcPts val="0"/>
              </a:spcAft>
            </a:pPr>
            <a:r>
              <a:rPr sz="1035" b="0" spc="90">
                <a:solidFill>
                  <a:srgbClr val="A6B4BB"/>
                </a:solidFill>
                <a:latin typeface="SpaceGrotesk Figure 450"/>
              </a:rPr>
              <a:t>420 TASKS</a:t>
            </a:r>
          </a:p>
        </p:txBody>
      </p:sp>
      <p:pic>
        <p:nvPicPr>
          <p:cNvPr id="6" name="AI-generated concept setting: scene-a.png" descr="scene-a.png"/>
          <p:cNvPicPr>
            <a:picLocks noChangeAspect="1"/>
          </p:cNvPicPr>
          <p:nvPr/>
        </p:nvPicPr>
        <p:blipFill>
          <a:blip r:embed="rId2"/>
          <a:srcRect b="23004"/>
          <a:stretch>
            <a:fillRect/>
          </a:stretch>
        </p:blipFill>
        <p:spPr>
          <a:xfrm>
            <a:off x="0" y="1114425"/>
            <a:ext cx="13716000" cy="5943600"/>
          </a:xfrm>
          <a:prstGeom prst="rect">
            <a:avLst/>
          </a:prstGeom>
        </p:spPr>
      </p:pic>
      <p:sp>
        <p:nvSpPr>
          <p:cNvPr id="7" name="Editable label: TASK"/>
          <p:cNvSpPr txBox="1"/>
          <p:nvPr/>
        </p:nvSpPr>
        <p:spPr>
          <a:xfrm>
            <a:off x="411480" y="1587969"/>
            <a:ext cx="477291" cy="197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035" b="0" spc="135">
                <a:solidFill>
                  <a:srgbClr val="8AD3DF"/>
                </a:solidFill>
                <a:latin typeface="SpaceGrotesk Figure 450"/>
              </a:rPr>
              <a:t>TASK</a:t>
            </a:r>
          </a:p>
        </p:txBody>
      </p:sp>
      <p:sp>
        <p:nvSpPr>
          <p:cNvPr id="8" name="Editable label: Passenger seat heat:"/>
          <p:cNvSpPr txBox="1"/>
          <p:nvPr/>
        </p:nvSpPr>
        <p:spPr>
          <a:xfrm>
            <a:off x="411480" y="1839087"/>
            <a:ext cx="2428875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0F2F0"/>
                </a:solidFill>
                <a:latin typeface="SpaceGrotesk Figure 450"/>
              </a:rPr>
              <a:t>Passenger seat heat:</a:t>
            </a:r>
          </a:p>
        </p:txBody>
      </p:sp>
      <p:sp>
        <p:nvSpPr>
          <p:cNvPr id="9" name="Editable label: maximum."/>
          <p:cNvSpPr txBox="1"/>
          <p:nvPr/>
        </p:nvSpPr>
        <p:spPr>
          <a:xfrm>
            <a:off x="411480" y="2130552"/>
            <a:ext cx="1225688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0F2F0"/>
                </a:solidFill>
                <a:latin typeface="SpaceGrotesk Figure 450"/>
              </a:rPr>
              <a:t>maximum.</a:t>
            </a:r>
          </a:p>
        </p:txBody>
      </p:sp>
      <p:sp>
        <p:nvSpPr>
          <p:cNvPr id="10" name="Editable label: Front and rear defrost:"/>
          <p:cNvSpPr txBox="1"/>
          <p:nvPr/>
        </p:nvSpPr>
        <p:spPr>
          <a:xfrm>
            <a:off x="411480" y="2542032"/>
            <a:ext cx="2618898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0F2F0"/>
                </a:solidFill>
                <a:latin typeface="SpaceGrotesk Figure 450"/>
              </a:rPr>
              <a:t>Front and rear defrost:</a:t>
            </a:r>
          </a:p>
        </p:txBody>
      </p:sp>
      <p:sp>
        <p:nvSpPr>
          <p:cNvPr id="11" name="Editable label: on."/>
          <p:cNvSpPr txBox="1"/>
          <p:nvPr/>
        </p:nvSpPr>
        <p:spPr>
          <a:xfrm>
            <a:off x="411480" y="2833497"/>
            <a:ext cx="4558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0F2F0"/>
                </a:solidFill>
                <a:latin typeface="SpaceGrotesk Figure 450"/>
              </a:rPr>
              <a:t>on.</a:t>
            </a:r>
          </a:p>
        </p:txBody>
      </p:sp>
      <p:pic>
        <p:nvPicPr>
          <p:cNvPr id="12" name="evidence: aaos-rear-defrost.jpeg" descr="aaos-rear-defrost.jpeg"/>
          <p:cNvPicPr>
            <a:picLocks noChangeAspect="1"/>
          </p:cNvPicPr>
          <p:nvPr/>
        </p:nvPicPr>
        <p:blipFill>
          <a:blip r:embed="rId3"/>
          <a:srcRect t="25316"/>
          <a:stretch>
            <a:fillRect/>
          </a:stretch>
        </p:blipFill>
        <p:spPr>
          <a:xfrm>
            <a:off x="6315075" y="2788920"/>
            <a:ext cx="5886450" cy="2473147"/>
          </a:xfrm>
          <a:prstGeom prst="rect">
            <a:avLst/>
          </a:prstGeom>
        </p:spPr>
      </p:pic>
      <p:sp>
        <p:nvSpPr>
          <p:cNvPr id="13" name="Editable label: Rear defrost"/>
          <p:cNvSpPr txBox="1"/>
          <p:nvPr/>
        </p:nvSpPr>
        <p:spPr>
          <a:xfrm>
            <a:off x="5572125" y="2362123"/>
            <a:ext cx="1011376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C4D3D9"/>
                </a:solidFill>
                <a:latin typeface="SpaceGrotesk Figure 450"/>
              </a:rPr>
              <a:t>Rear defrost</a:t>
            </a:r>
          </a:p>
        </p:txBody>
      </p:sp>
      <p:sp>
        <p:nvSpPr>
          <p:cNvPr id="14" name="Editable label: Agent"/>
          <p:cNvSpPr txBox="1"/>
          <p:nvPr/>
        </p:nvSpPr>
        <p:spPr>
          <a:xfrm>
            <a:off x="422910" y="3809161"/>
            <a:ext cx="7150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0F2F0"/>
                </a:solidFill>
                <a:latin typeface="SpaceGrotesk Figure 450"/>
              </a:rPr>
              <a:t>Agent</a:t>
            </a:r>
          </a:p>
        </p:txBody>
      </p:sp>
      <p:sp>
        <p:nvSpPr>
          <p:cNvPr id="15" name="Editable label: Act"/>
          <p:cNvSpPr txBox="1"/>
          <p:nvPr/>
        </p:nvSpPr>
        <p:spPr>
          <a:xfrm>
            <a:off x="2966085" y="3621481"/>
            <a:ext cx="3428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8AD3DF"/>
                </a:solidFill>
                <a:latin typeface="SpaceGrotesk Figure 450"/>
              </a:rPr>
              <a:t>Act</a:t>
            </a:r>
          </a:p>
        </p:txBody>
      </p:sp>
      <p:cxnSp>
        <p:nvCxnSpPr>
          <p:cNvPr id="16" name="Native connector"/>
          <p:cNvCxnSpPr/>
          <p:nvPr/>
        </p:nvCxnSpPr>
        <p:spPr>
          <a:xfrm>
            <a:off x="1360170" y="3960495"/>
            <a:ext cx="4091940" cy="0"/>
          </a:xfrm>
          <a:prstGeom prst="line">
            <a:avLst/>
          </a:prstGeom>
          <a:ln w="11430">
            <a:solidFill>
              <a:srgbClr val="8AD3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itable label: Observe"/>
          <p:cNvSpPr txBox="1"/>
          <p:nvPr/>
        </p:nvSpPr>
        <p:spPr>
          <a:xfrm>
            <a:off x="2834640" y="4238701"/>
            <a:ext cx="652045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A6B4BB"/>
                </a:solidFill>
                <a:latin typeface="SpaceGrotesk Figure 450"/>
              </a:rPr>
              <a:t>Observe</a:t>
            </a:r>
          </a:p>
        </p:txBody>
      </p:sp>
      <p:cxnSp>
        <p:nvCxnSpPr>
          <p:cNvPr id="18" name="Native connector"/>
          <p:cNvCxnSpPr/>
          <p:nvPr/>
        </p:nvCxnSpPr>
        <p:spPr>
          <a:xfrm flipH="1">
            <a:off x="1360170" y="4177664"/>
            <a:ext cx="4091940" cy="0"/>
          </a:xfrm>
          <a:prstGeom prst="line">
            <a:avLst/>
          </a:prstGeom>
          <a:ln w="11430">
            <a:solidFill>
              <a:srgbClr val="A6B4B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ative frame 17"/>
          <p:cNvSpPr/>
          <p:nvPr/>
        </p:nvSpPr>
        <p:spPr>
          <a:xfrm>
            <a:off x="462915" y="5709285"/>
            <a:ext cx="2160270" cy="1272995"/>
          </a:xfrm>
          <a:prstGeom prst="roundRect">
            <a:avLst>
              <a:gd name="adj" fmla="val 5387"/>
            </a:avLst>
          </a:prstGeom>
          <a:solidFill>
            <a:srgbClr val="020407"/>
          </a:solidFill>
          <a:ln w="6858">
            <a:solidFill>
              <a:srgbClr val="506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evidence: aaos-home.jpeg" descr="aaos-hom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" y="5772150"/>
            <a:ext cx="2034540" cy="1147265"/>
          </a:xfrm>
          <a:prstGeom prst="rect">
            <a:avLst/>
          </a:prstGeom>
        </p:spPr>
      </p:pic>
      <p:cxnSp>
        <p:nvCxnSpPr>
          <p:cNvPr id="21" name="Native connector"/>
          <p:cNvCxnSpPr/>
          <p:nvPr/>
        </p:nvCxnSpPr>
        <p:spPr>
          <a:xfrm>
            <a:off x="525780" y="5726430"/>
            <a:ext cx="1424177" cy="0"/>
          </a:xfrm>
          <a:prstGeom prst="line">
            <a:avLst/>
          </a:prstGeom>
          <a:ln w="6286">
            <a:solidFill>
              <a:srgbClr val="BFCCD2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itable label: Home"/>
          <p:cNvSpPr txBox="1"/>
          <p:nvPr/>
        </p:nvSpPr>
        <p:spPr>
          <a:xfrm>
            <a:off x="468629" y="5511088"/>
            <a:ext cx="51818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C4D3D9"/>
                </a:solidFill>
                <a:latin typeface="SpaceGrotesk Figure 450"/>
              </a:rPr>
              <a:t>Home</a:t>
            </a:r>
          </a:p>
        </p:txBody>
      </p:sp>
      <p:cxnSp>
        <p:nvCxnSpPr>
          <p:cNvPr id="23" name="Native connector"/>
          <p:cNvCxnSpPr/>
          <p:nvPr/>
        </p:nvCxnSpPr>
        <p:spPr>
          <a:xfrm>
            <a:off x="2623185" y="6326505"/>
            <a:ext cx="165735" cy="0"/>
          </a:xfrm>
          <a:prstGeom prst="line">
            <a:avLst/>
          </a:prstGeom>
          <a:ln w="11430">
            <a:solidFill>
              <a:srgbClr val="8AD3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Native frame 22"/>
          <p:cNvSpPr/>
          <p:nvPr/>
        </p:nvSpPr>
        <p:spPr>
          <a:xfrm>
            <a:off x="2794635" y="5709285"/>
            <a:ext cx="2160270" cy="1273260"/>
          </a:xfrm>
          <a:prstGeom prst="roundRect">
            <a:avLst>
              <a:gd name="adj" fmla="val 5386"/>
            </a:avLst>
          </a:prstGeom>
          <a:solidFill>
            <a:srgbClr val="020407"/>
          </a:solidFill>
          <a:ln w="6858">
            <a:solidFill>
              <a:srgbClr val="506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evidence: aaos-seat-heat.jpeg" descr="aaos-seat-heat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5772150"/>
            <a:ext cx="2034540" cy="1147530"/>
          </a:xfrm>
          <a:prstGeom prst="rect">
            <a:avLst/>
          </a:prstGeom>
        </p:spPr>
      </p:pic>
      <p:cxnSp>
        <p:nvCxnSpPr>
          <p:cNvPr id="26" name="Native connector"/>
          <p:cNvCxnSpPr/>
          <p:nvPr/>
        </p:nvCxnSpPr>
        <p:spPr>
          <a:xfrm>
            <a:off x="2857500" y="5726430"/>
            <a:ext cx="1424178" cy="0"/>
          </a:xfrm>
          <a:prstGeom prst="line">
            <a:avLst/>
          </a:prstGeom>
          <a:ln w="6286">
            <a:solidFill>
              <a:srgbClr val="BFCCD2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itable label: Seat heat"/>
          <p:cNvSpPr txBox="1"/>
          <p:nvPr/>
        </p:nvSpPr>
        <p:spPr>
          <a:xfrm>
            <a:off x="2800350" y="5511088"/>
            <a:ext cx="806797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C4D3D9"/>
                </a:solidFill>
                <a:latin typeface="SpaceGrotesk Figure 450"/>
              </a:rPr>
              <a:t>Seat heat</a:t>
            </a:r>
          </a:p>
        </p:txBody>
      </p:sp>
      <p:cxnSp>
        <p:nvCxnSpPr>
          <p:cNvPr id="28" name="Native connector"/>
          <p:cNvCxnSpPr/>
          <p:nvPr/>
        </p:nvCxnSpPr>
        <p:spPr>
          <a:xfrm>
            <a:off x="4954905" y="6326505"/>
            <a:ext cx="165735" cy="0"/>
          </a:xfrm>
          <a:prstGeom prst="line">
            <a:avLst/>
          </a:prstGeom>
          <a:ln w="11430">
            <a:solidFill>
              <a:srgbClr val="8AD3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Native frame 27"/>
          <p:cNvSpPr/>
          <p:nvPr/>
        </p:nvSpPr>
        <p:spPr>
          <a:xfrm>
            <a:off x="5126355" y="5709285"/>
            <a:ext cx="2160270" cy="1267710"/>
          </a:xfrm>
          <a:prstGeom prst="roundRect">
            <a:avLst>
              <a:gd name="adj" fmla="val 5409"/>
            </a:avLst>
          </a:prstGeom>
          <a:solidFill>
            <a:srgbClr val="020407"/>
          </a:solidFill>
          <a:ln w="6858">
            <a:solidFill>
              <a:srgbClr val="506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evidence: aaos-front-defrost.jpeg" descr="aaos-front-defrost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9220" y="5772150"/>
            <a:ext cx="2034540" cy="1141980"/>
          </a:xfrm>
          <a:prstGeom prst="rect">
            <a:avLst/>
          </a:prstGeom>
        </p:spPr>
      </p:pic>
      <p:cxnSp>
        <p:nvCxnSpPr>
          <p:cNvPr id="31" name="Native connector"/>
          <p:cNvCxnSpPr/>
          <p:nvPr/>
        </p:nvCxnSpPr>
        <p:spPr>
          <a:xfrm>
            <a:off x="5189220" y="5726430"/>
            <a:ext cx="1424178" cy="0"/>
          </a:xfrm>
          <a:prstGeom prst="line">
            <a:avLst/>
          </a:prstGeom>
          <a:ln w="6286">
            <a:solidFill>
              <a:srgbClr val="BFCCD2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 label: Front defrost"/>
          <p:cNvSpPr txBox="1"/>
          <p:nvPr/>
        </p:nvSpPr>
        <p:spPr>
          <a:xfrm>
            <a:off x="5132070" y="5511088"/>
            <a:ext cx="1070937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C4D3D9"/>
                </a:solidFill>
                <a:latin typeface="SpaceGrotesk Figure 450"/>
              </a:rPr>
              <a:t>Front defrost</a:t>
            </a:r>
          </a:p>
        </p:txBody>
      </p:sp>
      <p:cxnSp>
        <p:nvCxnSpPr>
          <p:cNvPr id="33" name="Native connector"/>
          <p:cNvCxnSpPr/>
          <p:nvPr/>
        </p:nvCxnSpPr>
        <p:spPr>
          <a:xfrm>
            <a:off x="7326629" y="6326505"/>
            <a:ext cx="491491" cy="0"/>
          </a:xfrm>
          <a:prstGeom prst="line">
            <a:avLst/>
          </a:prstGeom>
          <a:ln w="11430">
            <a:solidFill>
              <a:srgbClr val="8AD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ative connector"/>
          <p:cNvCxnSpPr/>
          <p:nvPr/>
        </p:nvCxnSpPr>
        <p:spPr>
          <a:xfrm flipV="1">
            <a:off x="7818120" y="5406390"/>
            <a:ext cx="0" cy="920115"/>
          </a:xfrm>
          <a:prstGeom prst="line">
            <a:avLst/>
          </a:prstGeom>
          <a:ln w="11430">
            <a:solidFill>
              <a:srgbClr val="8AD3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ative connector"/>
          <p:cNvCxnSpPr/>
          <p:nvPr/>
        </p:nvCxnSpPr>
        <p:spPr>
          <a:xfrm>
            <a:off x="12807315" y="5429250"/>
            <a:ext cx="0" cy="188595"/>
          </a:xfrm>
          <a:prstGeom prst="line">
            <a:avLst/>
          </a:prstGeom>
          <a:ln w="11430">
            <a:solidFill>
              <a:srgbClr val="A6B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ative connector"/>
          <p:cNvCxnSpPr/>
          <p:nvPr/>
        </p:nvCxnSpPr>
        <p:spPr>
          <a:xfrm flipH="1">
            <a:off x="11887200" y="5617845"/>
            <a:ext cx="920115" cy="0"/>
          </a:xfrm>
          <a:prstGeom prst="line">
            <a:avLst/>
          </a:prstGeom>
          <a:ln w="11430">
            <a:solidFill>
              <a:srgbClr val="A6B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ative connector"/>
          <p:cNvCxnSpPr/>
          <p:nvPr/>
        </p:nvCxnSpPr>
        <p:spPr>
          <a:xfrm>
            <a:off x="11887200" y="5617845"/>
            <a:ext cx="0" cy="125730"/>
          </a:xfrm>
          <a:prstGeom prst="line">
            <a:avLst/>
          </a:prstGeom>
          <a:ln w="11430">
            <a:solidFill>
              <a:srgbClr val="A6B4B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Native frame 33"/>
          <p:cNvSpPr/>
          <p:nvPr/>
        </p:nvSpPr>
        <p:spPr>
          <a:xfrm>
            <a:off x="8801100" y="5760720"/>
            <a:ext cx="4091939" cy="1171575"/>
          </a:xfrm>
          <a:prstGeom prst="roundRect">
            <a:avLst>
              <a:gd name="adj" fmla="val 6829"/>
            </a:avLst>
          </a:prstGeom>
          <a:solidFill>
            <a:srgbClr val="060D12">
              <a:alpha val="96000"/>
            </a:srgbClr>
          </a:solidFill>
          <a:ln w="5715">
            <a:solidFill>
              <a:srgbClr val="415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label: After episode"/>
          <p:cNvSpPr txBox="1"/>
          <p:nvPr/>
        </p:nvSpPr>
        <p:spPr>
          <a:xfrm>
            <a:off x="8972550" y="5824385"/>
            <a:ext cx="1125408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215" b="0">
                <a:solidFill>
                  <a:srgbClr val="A6B4BB"/>
                </a:solidFill>
                <a:latin typeface="SpaceGrotesk Figure 450"/>
              </a:rPr>
              <a:t>After episode</a:t>
            </a:r>
          </a:p>
        </p:txBody>
      </p:sp>
      <p:sp>
        <p:nvSpPr>
          <p:cNvPr id="40" name="Editable label: Deterministic checks"/>
          <p:cNvSpPr txBox="1"/>
          <p:nvPr/>
        </p:nvSpPr>
        <p:spPr>
          <a:xfrm>
            <a:off x="8972550" y="6089446"/>
            <a:ext cx="220081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0F2F0"/>
                </a:solidFill>
                <a:latin typeface="SpaceGrotesk Figure 450"/>
              </a:rPr>
              <a:t>Deterministic checks</a:t>
            </a:r>
          </a:p>
        </p:txBody>
      </p:sp>
      <p:sp>
        <p:nvSpPr>
          <p:cNvPr id="41" name="Editable label: Final state + task trace"/>
          <p:cNvSpPr txBox="1"/>
          <p:nvPr/>
        </p:nvSpPr>
        <p:spPr>
          <a:xfrm>
            <a:off x="8972550" y="6428117"/>
            <a:ext cx="1951672" cy="248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1305" b="0">
                <a:solidFill>
                  <a:srgbClr val="A6B4BB"/>
                </a:solidFill>
                <a:latin typeface="SpaceGrotesk Figure 450"/>
              </a:rPr>
              <a:t>Final state + task trace</a:t>
            </a:r>
          </a:p>
        </p:txBody>
      </p:sp>
      <p:sp>
        <p:nvSpPr>
          <p:cNvPr id="42" name="Native frame 37"/>
          <p:cNvSpPr/>
          <p:nvPr/>
        </p:nvSpPr>
        <p:spPr>
          <a:xfrm>
            <a:off x="0" y="7058025"/>
            <a:ext cx="13716000" cy="657225"/>
          </a:xfrm>
          <a:prstGeom prst="rect">
            <a:avLst/>
          </a:prstGeom>
          <a:solidFill>
            <a:srgbClr val="05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Native connector"/>
          <p:cNvCxnSpPr/>
          <p:nvPr/>
        </p:nvCxnSpPr>
        <p:spPr>
          <a:xfrm>
            <a:off x="468629" y="7120890"/>
            <a:ext cx="12778741" cy="0"/>
          </a:xfrm>
          <a:prstGeom prst="line">
            <a:avLst/>
          </a:prstGeom>
          <a:ln w="5715">
            <a:solidFill>
              <a:srgbClr val="314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Editable label: AI-GENERATED CONCEPT SETTING"/>
          <p:cNvSpPr txBox="1"/>
          <p:nvPr/>
        </p:nvSpPr>
        <p:spPr>
          <a:xfrm>
            <a:off x="411480" y="7303998"/>
            <a:ext cx="2301269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</a:pPr>
            <a:r>
              <a:rPr sz="990" b="0" spc="68">
                <a:solidFill>
                  <a:srgbClr val="A6B4BB"/>
                </a:solidFill>
                <a:latin typeface="SpaceGrotesk Figure 450"/>
              </a:rPr>
              <a:t>AI-GENERATED CONCEPT SETTING</a:t>
            </a:r>
          </a:p>
        </p:txBody>
      </p:sp>
      <p:sp>
        <p:nvSpPr>
          <p:cNvPr id="45" name="Editable label: ORIGINAL AAOS CAPTURES"/>
          <p:cNvSpPr txBox="1"/>
          <p:nvPr/>
        </p:nvSpPr>
        <p:spPr>
          <a:xfrm>
            <a:off x="11412408" y="7303998"/>
            <a:ext cx="1892111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marL="0" marR="0" indent="0">
              <a:spcBef>
                <a:spcPts val="0"/>
              </a:spcBef>
              <a:spcAft>
                <a:spcPts val="0"/>
              </a:spcAft>
            </a:pPr>
            <a:r>
              <a:rPr sz="990" b="0" spc="90">
                <a:solidFill>
                  <a:srgbClr val="A6B4BB"/>
                </a:solidFill>
                <a:latin typeface="SpaceGrotesk Figure 450"/>
              </a:rPr>
              <a:t>ORIGINAL AAOS CAPTURES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